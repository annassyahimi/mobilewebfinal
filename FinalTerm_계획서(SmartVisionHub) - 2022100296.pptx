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9906000"/>
  <p:notesSz cx="9906000" cy="6858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15" roundtripDataSignature="AMtx7mgwmMrygk6Zytg7vyO8U8fDFC1SE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customschemas.google.com/relationships/presentationmetadata" Target="metadata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1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2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4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4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6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7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8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9:notes"/>
          <p:cNvSpPr txBox="1"/>
          <p:nvPr>
            <p:ph idx="1" type="body"/>
          </p:nvPr>
        </p:nvSpPr>
        <p:spPr>
          <a:xfrm>
            <a:off x="990600" y="3257550"/>
            <a:ext cx="79248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9:notes"/>
          <p:cNvSpPr/>
          <p:nvPr>
            <p:ph idx="2" type="sldImg"/>
          </p:nvPr>
        </p:nvSpPr>
        <p:spPr>
          <a:xfrm>
            <a:off x="1651325" y="514350"/>
            <a:ext cx="6604325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1"/>
          <p:cNvSpPr txBox="1"/>
          <p:nvPr>
            <p:ph type="title"/>
          </p:nvPr>
        </p:nvSpPr>
        <p:spPr>
          <a:xfrm>
            <a:off x="574040" y="609888"/>
            <a:ext cx="8757919" cy="3308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>
                <a:solidFill>
                  <a:srgbClr val="00206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1"/>
          <p:cNvSpPr txBox="1"/>
          <p:nvPr>
            <p:ph idx="1" type="body"/>
          </p:nvPr>
        </p:nvSpPr>
        <p:spPr>
          <a:xfrm>
            <a:off x="182478" y="2640851"/>
            <a:ext cx="9285605" cy="1466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1"/>
          <p:cNvSpPr txBox="1"/>
          <p:nvPr>
            <p:ph idx="11" type="ftr"/>
          </p:nvPr>
        </p:nvSpPr>
        <p:spPr>
          <a:xfrm>
            <a:off x="1208504" y="6506291"/>
            <a:ext cx="1705610" cy="2228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1"/>
          <p:cNvSpPr txBox="1"/>
          <p:nvPr>
            <p:ph idx="10" type="dt"/>
          </p:nvPr>
        </p:nvSpPr>
        <p:spPr>
          <a:xfrm>
            <a:off x="495300" y="6377940"/>
            <a:ext cx="22783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1"/>
          <p:cNvSpPr txBox="1"/>
          <p:nvPr>
            <p:ph idx="12" type="sldNum"/>
          </p:nvPr>
        </p:nvSpPr>
        <p:spPr>
          <a:xfrm>
            <a:off x="9112504" y="6418258"/>
            <a:ext cx="2444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121285" marR="0" algn="l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8A8A8A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121285" marR="0" algn="l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8A8A8A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121285" marR="0" algn="l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8A8A8A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121285" marR="0" algn="l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8A8A8A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121285" marR="0" algn="l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8A8A8A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121285" marR="0" algn="l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8A8A8A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121285" marR="0" algn="l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8A8A8A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121285" marR="0" algn="l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8A8A8A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121285" marR="0" algn="l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8A8A8A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12128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2"/>
          <p:cNvSpPr txBox="1"/>
          <p:nvPr>
            <p:ph type="ctrTitle"/>
          </p:nvPr>
        </p:nvSpPr>
        <p:spPr>
          <a:xfrm>
            <a:off x="742950" y="2125980"/>
            <a:ext cx="8420100" cy="1440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2"/>
          <p:cNvSpPr txBox="1"/>
          <p:nvPr>
            <p:ph idx="1" type="subTitle"/>
          </p:nvPr>
        </p:nvSpPr>
        <p:spPr>
          <a:xfrm>
            <a:off x="1485900" y="3840480"/>
            <a:ext cx="69342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2"/>
          <p:cNvSpPr txBox="1"/>
          <p:nvPr>
            <p:ph idx="11" type="ftr"/>
          </p:nvPr>
        </p:nvSpPr>
        <p:spPr>
          <a:xfrm>
            <a:off x="1208504" y="6506291"/>
            <a:ext cx="1705610" cy="2228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2"/>
          <p:cNvSpPr txBox="1"/>
          <p:nvPr>
            <p:ph idx="10" type="dt"/>
          </p:nvPr>
        </p:nvSpPr>
        <p:spPr>
          <a:xfrm>
            <a:off x="495300" y="6377940"/>
            <a:ext cx="22783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2"/>
          <p:cNvSpPr txBox="1"/>
          <p:nvPr>
            <p:ph idx="12" type="sldNum"/>
          </p:nvPr>
        </p:nvSpPr>
        <p:spPr>
          <a:xfrm>
            <a:off x="9112504" y="6418258"/>
            <a:ext cx="2444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121285" marR="0" algn="l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8A8A8A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121285" marR="0" algn="l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8A8A8A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121285" marR="0" algn="l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8A8A8A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121285" marR="0" algn="l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8A8A8A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121285" marR="0" algn="l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8A8A8A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121285" marR="0" algn="l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8A8A8A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121285" marR="0" algn="l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8A8A8A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121285" marR="0" algn="l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8A8A8A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121285" marR="0" algn="l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8A8A8A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12128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3"/>
          <p:cNvSpPr txBox="1"/>
          <p:nvPr>
            <p:ph type="title"/>
          </p:nvPr>
        </p:nvSpPr>
        <p:spPr>
          <a:xfrm>
            <a:off x="574040" y="609888"/>
            <a:ext cx="8757919" cy="3308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>
                <a:solidFill>
                  <a:srgbClr val="00206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3"/>
          <p:cNvSpPr txBox="1"/>
          <p:nvPr>
            <p:ph idx="1" type="body"/>
          </p:nvPr>
        </p:nvSpPr>
        <p:spPr>
          <a:xfrm>
            <a:off x="495300" y="1577340"/>
            <a:ext cx="430911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3"/>
          <p:cNvSpPr txBox="1"/>
          <p:nvPr>
            <p:ph idx="2" type="body"/>
          </p:nvPr>
        </p:nvSpPr>
        <p:spPr>
          <a:xfrm>
            <a:off x="5101590" y="1577340"/>
            <a:ext cx="430911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3"/>
          <p:cNvSpPr txBox="1"/>
          <p:nvPr>
            <p:ph idx="11" type="ftr"/>
          </p:nvPr>
        </p:nvSpPr>
        <p:spPr>
          <a:xfrm>
            <a:off x="1208504" y="6506291"/>
            <a:ext cx="1705610" cy="2228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3"/>
          <p:cNvSpPr txBox="1"/>
          <p:nvPr>
            <p:ph idx="10" type="dt"/>
          </p:nvPr>
        </p:nvSpPr>
        <p:spPr>
          <a:xfrm>
            <a:off x="495300" y="6377940"/>
            <a:ext cx="22783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2" type="sldNum"/>
          </p:nvPr>
        </p:nvSpPr>
        <p:spPr>
          <a:xfrm>
            <a:off x="9112504" y="6418258"/>
            <a:ext cx="2444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121285" marR="0" algn="l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8A8A8A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121285" marR="0" algn="l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8A8A8A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121285" marR="0" algn="l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8A8A8A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121285" marR="0" algn="l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8A8A8A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121285" marR="0" algn="l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8A8A8A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121285" marR="0" algn="l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8A8A8A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121285" marR="0" algn="l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8A8A8A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121285" marR="0" algn="l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8A8A8A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121285" marR="0" algn="l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8A8A8A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12128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4"/>
          <p:cNvSpPr txBox="1"/>
          <p:nvPr>
            <p:ph type="title"/>
          </p:nvPr>
        </p:nvSpPr>
        <p:spPr>
          <a:xfrm>
            <a:off x="574040" y="609888"/>
            <a:ext cx="8757919" cy="3308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>
                <a:solidFill>
                  <a:srgbClr val="00206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4"/>
          <p:cNvSpPr txBox="1"/>
          <p:nvPr>
            <p:ph idx="11" type="ftr"/>
          </p:nvPr>
        </p:nvSpPr>
        <p:spPr>
          <a:xfrm>
            <a:off x="1208504" y="6506291"/>
            <a:ext cx="1705610" cy="2228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4"/>
          <p:cNvSpPr txBox="1"/>
          <p:nvPr>
            <p:ph idx="10" type="dt"/>
          </p:nvPr>
        </p:nvSpPr>
        <p:spPr>
          <a:xfrm>
            <a:off x="495300" y="6377940"/>
            <a:ext cx="22783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4"/>
          <p:cNvSpPr txBox="1"/>
          <p:nvPr>
            <p:ph idx="12" type="sldNum"/>
          </p:nvPr>
        </p:nvSpPr>
        <p:spPr>
          <a:xfrm>
            <a:off x="9112504" y="6418258"/>
            <a:ext cx="2444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121285" marR="0" algn="l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8A8A8A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121285" marR="0" algn="l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8A8A8A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121285" marR="0" algn="l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8A8A8A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121285" marR="0" algn="l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8A8A8A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121285" marR="0" algn="l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8A8A8A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121285" marR="0" algn="l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8A8A8A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121285" marR="0" algn="l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8A8A8A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121285" marR="0" algn="l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8A8A8A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121285" marR="0" algn="l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8A8A8A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12128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5"/>
          <p:cNvSpPr txBox="1"/>
          <p:nvPr>
            <p:ph idx="11" type="ftr"/>
          </p:nvPr>
        </p:nvSpPr>
        <p:spPr>
          <a:xfrm>
            <a:off x="1208504" y="6506291"/>
            <a:ext cx="1705610" cy="2228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5"/>
          <p:cNvSpPr txBox="1"/>
          <p:nvPr>
            <p:ph idx="10" type="dt"/>
          </p:nvPr>
        </p:nvSpPr>
        <p:spPr>
          <a:xfrm>
            <a:off x="495300" y="6377940"/>
            <a:ext cx="22783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5"/>
          <p:cNvSpPr txBox="1"/>
          <p:nvPr>
            <p:ph idx="12" type="sldNum"/>
          </p:nvPr>
        </p:nvSpPr>
        <p:spPr>
          <a:xfrm>
            <a:off x="9112504" y="6418258"/>
            <a:ext cx="2444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121285" marR="0" algn="l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8A8A8A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121285" marR="0" algn="l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8A8A8A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121285" marR="0" algn="l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8A8A8A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121285" marR="0" algn="l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8A8A8A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121285" marR="0" algn="l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8A8A8A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121285" marR="0" algn="l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8A8A8A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121285" marR="0" algn="l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8A8A8A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121285" marR="0" algn="l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8A8A8A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121285" marR="0" algn="l">
              <a:lnSpc>
                <a:spcPct val="100000"/>
              </a:lnSpc>
              <a:spcBef>
                <a:spcPts val="0"/>
              </a:spcBef>
              <a:buNone/>
              <a:defRPr b="0" i="0" sz="1200">
                <a:solidFill>
                  <a:srgbClr val="8A8A8A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12128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.jp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/>
          <p:nvPr/>
        </p:nvSpPr>
        <p:spPr>
          <a:xfrm>
            <a:off x="0" y="0"/>
            <a:ext cx="9905998" cy="6858000"/>
          </a:xfrm>
          <a:prstGeom prst="rect">
            <a:avLst/>
          </a:prstGeom>
          <a:blipFill rotWithShape="1">
            <a:blip r:embed="rId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7;p10"/>
          <p:cNvSpPr/>
          <p:nvPr/>
        </p:nvSpPr>
        <p:spPr>
          <a:xfrm>
            <a:off x="495300" y="6461759"/>
            <a:ext cx="641603" cy="248411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8;p10"/>
          <p:cNvSpPr txBox="1"/>
          <p:nvPr>
            <p:ph type="title"/>
          </p:nvPr>
        </p:nvSpPr>
        <p:spPr>
          <a:xfrm>
            <a:off x="574040" y="609888"/>
            <a:ext cx="8757919" cy="3308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206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" name="Google Shape;9;p10"/>
          <p:cNvSpPr txBox="1"/>
          <p:nvPr>
            <p:ph idx="1" type="body"/>
          </p:nvPr>
        </p:nvSpPr>
        <p:spPr>
          <a:xfrm>
            <a:off x="182478" y="2640851"/>
            <a:ext cx="9285605" cy="1466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0" u="none" cap="none" strike="noStrik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1" type="ftr"/>
          </p:nvPr>
        </p:nvSpPr>
        <p:spPr>
          <a:xfrm>
            <a:off x="1208504" y="6506291"/>
            <a:ext cx="1705610" cy="2228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10"/>
          <p:cNvSpPr txBox="1"/>
          <p:nvPr>
            <p:ph idx="10" type="dt"/>
          </p:nvPr>
        </p:nvSpPr>
        <p:spPr>
          <a:xfrm>
            <a:off x="495300" y="6377940"/>
            <a:ext cx="22783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0"/>
          <p:cNvSpPr txBox="1"/>
          <p:nvPr>
            <p:ph idx="12" type="sldNum"/>
          </p:nvPr>
        </p:nvSpPr>
        <p:spPr>
          <a:xfrm>
            <a:off x="9112504" y="6418258"/>
            <a:ext cx="2444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121285" marR="0" rtl="0" algn="l">
              <a:lnSpc>
                <a:spcPct val="100000"/>
              </a:lnSpc>
              <a:spcBef>
                <a:spcPts val="0"/>
              </a:spcBef>
              <a:buNone/>
              <a:defRPr b="0" i="0" sz="1200" u="none">
                <a:solidFill>
                  <a:srgbClr val="8A8A8A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121285" marR="0" rtl="0" algn="l">
              <a:lnSpc>
                <a:spcPct val="100000"/>
              </a:lnSpc>
              <a:spcBef>
                <a:spcPts val="0"/>
              </a:spcBef>
              <a:buNone/>
              <a:defRPr b="0" i="0" sz="1200" u="none">
                <a:solidFill>
                  <a:srgbClr val="8A8A8A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121285" marR="0" rtl="0" algn="l">
              <a:lnSpc>
                <a:spcPct val="100000"/>
              </a:lnSpc>
              <a:spcBef>
                <a:spcPts val="0"/>
              </a:spcBef>
              <a:buNone/>
              <a:defRPr b="0" i="0" sz="1200" u="none">
                <a:solidFill>
                  <a:srgbClr val="8A8A8A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121285" marR="0" rtl="0" algn="l">
              <a:lnSpc>
                <a:spcPct val="100000"/>
              </a:lnSpc>
              <a:spcBef>
                <a:spcPts val="0"/>
              </a:spcBef>
              <a:buNone/>
              <a:defRPr b="0" i="0" sz="1200" u="none">
                <a:solidFill>
                  <a:srgbClr val="8A8A8A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121285" marR="0" rtl="0" algn="l">
              <a:lnSpc>
                <a:spcPct val="100000"/>
              </a:lnSpc>
              <a:spcBef>
                <a:spcPts val="0"/>
              </a:spcBef>
              <a:buNone/>
              <a:defRPr b="0" i="0" sz="1200" u="none">
                <a:solidFill>
                  <a:srgbClr val="8A8A8A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121285" marR="0" rtl="0" algn="l">
              <a:lnSpc>
                <a:spcPct val="100000"/>
              </a:lnSpc>
              <a:spcBef>
                <a:spcPts val="0"/>
              </a:spcBef>
              <a:buNone/>
              <a:defRPr b="0" i="0" sz="1200" u="none">
                <a:solidFill>
                  <a:srgbClr val="8A8A8A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121285" marR="0" rtl="0" algn="l">
              <a:lnSpc>
                <a:spcPct val="100000"/>
              </a:lnSpc>
              <a:spcBef>
                <a:spcPts val="0"/>
              </a:spcBef>
              <a:buNone/>
              <a:defRPr b="0" i="0" sz="1200" u="none">
                <a:solidFill>
                  <a:srgbClr val="8A8A8A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121285" marR="0" rtl="0" algn="l">
              <a:lnSpc>
                <a:spcPct val="100000"/>
              </a:lnSpc>
              <a:spcBef>
                <a:spcPts val="0"/>
              </a:spcBef>
              <a:buNone/>
              <a:defRPr b="0" i="0" sz="1200" u="none">
                <a:solidFill>
                  <a:srgbClr val="8A8A8A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121285" marR="0" rtl="0" algn="l">
              <a:lnSpc>
                <a:spcPct val="100000"/>
              </a:lnSpc>
              <a:spcBef>
                <a:spcPts val="0"/>
              </a:spcBef>
              <a:buNone/>
              <a:defRPr b="0" i="0" sz="1200" u="none">
                <a:solidFill>
                  <a:srgbClr val="8A8A8A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121285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  <p:sldLayoutId id="2147483653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Relationship Id="rId4" Type="http://schemas.openxmlformats.org/officeDocument/2006/relationships/image" Target="../media/image5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20" Type="http://schemas.openxmlformats.org/officeDocument/2006/relationships/image" Target="../media/image19.png"/><Relationship Id="rId11" Type="http://schemas.openxmlformats.org/officeDocument/2006/relationships/image" Target="../media/image18.png"/><Relationship Id="rId10" Type="http://schemas.openxmlformats.org/officeDocument/2006/relationships/image" Target="../media/image10.png"/><Relationship Id="rId21" Type="http://schemas.openxmlformats.org/officeDocument/2006/relationships/image" Target="../media/image24.png"/><Relationship Id="rId13" Type="http://schemas.openxmlformats.org/officeDocument/2006/relationships/image" Target="../media/image15.png"/><Relationship Id="rId1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11.png"/><Relationship Id="rId9" Type="http://schemas.openxmlformats.org/officeDocument/2006/relationships/image" Target="../media/image14.png"/><Relationship Id="rId15" Type="http://schemas.openxmlformats.org/officeDocument/2006/relationships/image" Target="../media/image9.png"/><Relationship Id="rId14" Type="http://schemas.openxmlformats.org/officeDocument/2006/relationships/image" Target="../media/image13.png"/><Relationship Id="rId17" Type="http://schemas.openxmlformats.org/officeDocument/2006/relationships/image" Target="../media/image22.png"/><Relationship Id="rId16" Type="http://schemas.openxmlformats.org/officeDocument/2006/relationships/image" Target="../media/image23.png"/><Relationship Id="rId5" Type="http://schemas.openxmlformats.org/officeDocument/2006/relationships/image" Target="../media/image12.png"/><Relationship Id="rId19" Type="http://schemas.openxmlformats.org/officeDocument/2006/relationships/image" Target="../media/image20.png"/><Relationship Id="rId6" Type="http://schemas.openxmlformats.org/officeDocument/2006/relationships/image" Target="../media/image21.png"/><Relationship Id="rId18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"/>
          <p:cNvSpPr/>
          <p:nvPr/>
        </p:nvSpPr>
        <p:spPr>
          <a:xfrm>
            <a:off x="0" y="0"/>
            <a:ext cx="9905998" cy="647807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1"/>
          <p:cNvSpPr txBox="1"/>
          <p:nvPr/>
        </p:nvSpPr>
        <p:spPr>
          <a:xfrm>
            <a:off x="1218275" y="2171297"/>
            <a:ext cx="8229000" cy="11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FinalTerm 계획서</a:t>
            </a:r>
            <a:endParaRPr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제목 : </a:t>
            </a:r>
            <a:r>
              <a:rPr i="1" lang="en-US" sz="3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Smart Vision Hub</a:t>
            </a:r>
            <a:endParaRPr i="1" sz="36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" name="Google Shape;47;p1"/>
          <p:cNvSpPr/>
          <p:nvPr/>
        </p:nvSpPr>
        <p:spPr>
          <a:xfrm>
            <a:off x="3119628" y="5259323"/>
            <a:ext cx="1036319" cy="40233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1"/>
          <p:cNvSpPr txBox="1"/>
          <p:nvPr/>
        </p:nvSpPr>
        <p:spPr>
          <a:xfrm>
            <a:off x="4254215" y="5285013"/>
            <a:ext cx="2418715" cy="330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F49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Image Processing Lab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" name="Google Shape;49;p1"/>
          <p:cNvSpPr txBox="1"/>
          <p:nvPr>
            <p:ph type="title"/>
          </p:nvPr>
        </p:nvSpPr>
        <p:spPr>
          <a:xfrm>
            <a:off x="454138" y="630845"/>
            <a:ext cx="5108462" cy="382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None/>
            </a:pPr>
            <a:r>
              <a:rPr lang="en-US"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Mobile/WebService Project</a:t>
            </a:r>
            <a:endParaRPr sz="2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" name="Google Shape;50;p1"/>
          <p:cNvSpPr txBox="1"/>
          <p:nvPr/>
        </p:nvSpPr>
        <p:spPr>
          <a:xfrm>
            <a:off x="5998725" y="3911500"/>
            <a:ext cx="3907500" cy="7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학번: </a:t>
            </a:r>
            <a:r>
              <a:rPr i="1" lang="en-US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2022100296</a:t>
            </a:r>
            <a:endParaRPr i="1">
              <a:solidFill>
                <a:srgbClr val="FF0000"/>
              </a:solidFill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이름: </a:t>
            </a:r>
            <a:r>
              <a:rPr i="1" lang="en-US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ABAS ANNAS SYAHIMI</a:t>
            </a:r>
            <a:endParaRPr i="1" sz="24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"/>
          <p:cNvSpPr/>
          <p:nvPr/>
        </p:nvSpPr>
        <p:spPr>
          <a:xfrm>
            <a:off x="0" y="0"/>
            <a:ext cx="9905998" cy="6858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 txBox="1"/>
          <p:nvPr/>
        </p:nvSpPr>
        <p:spPr>
          <a:xfrm>
            <a:off x="9221723" y="6431727"/>
            <a:ext cx="109855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A8A8A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7" name="Google Shape;57;p2"/>
          <p:cNvSpPr txBox="1"/>
          <p:nvPr>
            <p:ph type="title"/>
          </p:nvPr>
        </p:nvSpPr>
        <p:spPr>
          <a:xfrm>
            <a:off x="1399538" y="2991103"/>
            <a:ext cx="5687062" cy="5668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/>
              <a:t>목차</a:t>
            </a:r>
            <a:endParaRPr sz="3600"/>
          </a:p>
        </p:txBody>
      </p:sp>
      <p:sp>
        <p:nvSpPr>
          <p:cNvPr id="58" name="Google Shape;58;p2"/>
          <p:cNvSpPr txBox="1"/>
          <p:nvPr/>
        </p:nvSpPr>
        <p:spPr>
          <a:xfrm>
            <a:off x="1482089" y="4019482"/>
            <a:ext cx="6366511" cy="23051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3025">
            <a:spAutoFit/>
          </a:bodyPr>
          <a:lstStyle/>
          <a:p>
            <a:pPr indent="-343535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요구조건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3535" lvl="0" marL="355600" marR="0" rtl="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목적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3535" lvl="0" marL="355600" marR="0" rtl="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필요성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3535" lvl="0" marL="355600" marR="0" rtl="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기능 계획(신규 또는 추가 기능 중심)</a:t>
            </a:r>
            <a:endParaRPr/>
          </a:p>
          <a:p>
            <a:pPr indent="-343535" lvl="0" marL="355600" marR="0" rtl="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사용자 시나리오(Ui 구성)</a:t>
            </a:r>
            <a:endParaRPr/>
          </a:p>
          <a:p>
            <a:pPr indent="-343535" lvl="0" marL="355600" marR="0" rtl="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rgbClr val="1F497D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rgbClr val="1F497D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기대효과</a:t>
            </a:r>
            <a:endParaRPr sz="2000">
              <a:solidFill>
                <a:srgbClr val="1F497D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"/>
          <p:cNvSpPr txBox="1"/>
          <p:nvPr/>
        </p:nvSpPr>
        <p:spPr>
          <a:xfrm>
            <a:off x="1208504" y="6486875"/>
            <a:ext cx="1705610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F49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Image Processing Lab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" name="Google Shape;64;p3"/>
          <p:cNvSpPr txBox="1"/>
          <p:nvPr>
            <p:ph type="title"/>
          </p:nvPr>
        </p:nvSpPr>
        <p:spPr>
          <a:xfrm>
            <a:off x="574040" y="609888"/>
            <a:ext cx="3388360" cy="330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요구조건</a:t>
            </a:r>
            <a:endParaRPr/>
          </a:p>
        </p:txBody>
      </p:sp>
      <p:sp>
        <p:nvSpPr>
          <p:cNvPr id="65" name="Google Shape;65;p3"/>
          <p:cNvSpPr txBox="1"/>
          <p:nvPr/>
        </p:nvSpPr>
        <p:spPr>
          <a:xfrm>
            <a:off x="574040" y="1124817"/>
            <a:ext cx="8874760" cy="49584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287019" lvl="0" marL="299085" marR="0" rtl="0" algn="l">
              <a:spcBef>
                <a:spcPts val="0"/>
              </a:spcBef>
              <a:spcAft>
                <a:spcPts val="0"/>
              </a:spcAft>
              <a:buClr>
                <a:srgbClr val="558ED5"/>
              </a:buClr>
              <a:buSzPts val="1800"/>
              <a:buFont typeface="Noto Sans Symbols"/>
              <a:buChar char="❖"/>
            </a:pPr>
            <a:r>
              <a:rPr lang="en-US" sz="1800">
                <a:solidFill>
                  <a:srgbClr val="558ED5"/>
                </a:solidFill>
                <a:latin typeface="Calibri"/>
                <a:ea typeface="Calibri"/>
                <a:cs typeface="Calibri"/>
                <a:sym typeface="Calibri"/>
              </a:rPr>
              <a:t>Edge System(Python 기반, 공통)</a:t>
            </a:r>
            <a:endParaRPr/>
          </a:p>
          <a:p>
            <a:pPr indent="-342900" lvl="1" marL="812165" marR="0" rtl="0" algn="l">
              <a:spcBef>
                <a:spcPts val="10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-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YoloV5 pretrained model 사용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812165" marR="0" rtl="0" algn="l">
              <a:spcBef>
                <a:spcPts val="10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-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Ms coco 훈련데이터 기준 검출 객체 (Classes) : 80가지 객체 검출 기능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812165" marR="0" rtl="0" algn="l">
              <a:spcBef>
                <a:spcPts val="10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-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한 종류의 객체를 동일한 객체로 가능한 Change Detection</a:t>
            </a:r>
            <a:endParaRPr/>
          </a:p>
          <a:p>
            <a:pPr indent="-342900" lvl="1" marL="812165" marR="0" rtl="0" algn="l">
              <a:spcBef>
                <a:spcPts val="10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-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게시를 위한 HTTP Restfull API 사용(공통)</a:t>
            </a:r>
            <a:endParaRPr/>
          </a:p>
          <a:p>
            <a:pPr indent="-279400" lvl="1" marL="812165" marR="0" rtl="0" algn="l">
              <a:spcBef>
                <a:spcPts val="105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0" marL="299085" marR="0" rtl="0" algn="l">
              <a:spcBef>
                <a:spcPts val="105"/>
              </a:spcBef>
              <a:spcAft>
                <a:spcPts val="0"/>
              </a:spcAft>
              <a:buClr>
                <a:srgbClr val="558ED5"/>
              </a:buClr>
              <a:buSzPts val="1800"/>
              <a:buFont typeface="Noto Sans Symbols"/>
              <a:buChar char="❖"/>
            </a:pPr>
            <a:r>
              <a:rPr lang="en-US" sz="1800">
                <a:solidFill>
                  <a:srgbClr val="558ED5"/>
                </a:solidFill>
                <a:latin typeface="Calibri"/>
                <a:ea typeface="Calibri"/>
                <a:cs typeface="Calibri"/>
                <a:sym typeface="Calibri"/>
              </a:rPr>
              <a:t>Service System(Python, Django 기반, Pythonanywhere 클라우드상 서비스 구동, 일부 확장 기능 가능)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812165" marR="0" rtl="0" algn="l">
              <a:spcBef>
                <a:spcPts val="10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-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사용자 보안 기능(보안키를 이용한 로그인, 공통)</a:t>
            </a:r>
            <a:endParaRPr/>
          </a:p>
          <a:p>
            <a:pPr indent="-342900" lvl="1" marL="812165" marR="0" rtl="0" algn="l">
              <a:spcBef>
                <a:spcPts val="10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-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Image Blog 및 관리 기능(공통, 일부 확장 기능 가능)</a:t>
            </a:r>
            <a:endParaRPr/>
          </a:p>
          <a:p>
            <a:pPr indent="-342900" lvl="1" marL="812165" marR="0" rtl="0" algn="l">
              <a:spcBef>
                <a:spcPts val="10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-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게시를 위한 HTTP Restfull API 제공(공통)</a:t>
            </a:r>
            <a:endParaRPr/>
          </a:p>
          <a:p>
            <a:pPr indent="-342900" lvl="1" marL="812165" marR="0" rtl="0" algn="l">
              <a:spcBef>
                <a:spcPts val="10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-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Image 목록, 획득을 위한 HTTP Restfull API 제공(신규 추가 필요)</a:t>
            </a:r>
            <a:endParaRPr/>
          </a:p>
          <a:p>
            <a:pPr indent="-279400" lvl="1" marL="812165" marR="0" rtl="0" algn="l">
              <a:spcBef>
                <a:spcPts val="105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019" lvl="0" marL="299085" marR="0" rtl="0" algn="l">
              <a:spcBef>
                <a:spcPts val="105"/>
              </a:spcBef>
              <a:spcAft>
                <a:spcPts val="0"/>
              </a:spcAft>
              <a:buClr>
                <a:srgbClr val="558ED5"/>
              </a:buClr>
              <a:buSzPts val="1800"/>
              <a:buFont typeface="Noto Sans Symbols"/>
              <a:buChar char="❖"/>
            </a:pPr>
            <a:r>
              <a:rPr lang="en-US" sz="1800">
                <a:solidFill>
                  <a:srgbClr val="558ED5"/>
                </a:solidFill>
                <a:latin typeface="Calibri"/>
                <a:ea typeface="Calibri"/>
                <a:cs typeface="Calibri"/>
                <a:sym typeface="Calibri"/>
              </a:rPr>
              <a:t>Client System(Android, Native App, 개별 제안)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812165" marR="0" rtl="0" algn="l">
              <a:spcBef>
                <a:spcPts val="10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-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Image list view 기능(공통 기능, 개별 제안)</a:t>
            </a:r>
            <a:endParaRPr/>
          </a:p>
          <a:p>
            <a:pPr indent="-342900" lvl="1" marL="812165" marR="0" rtl="0" algn="l">
              <a:spcBef>
                <a:spcPts val="10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-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Image 목록, 획득을 위한 HTTP Restfull API 사용(신규 추가 필요)</a:t>
            </a:r>
            <a:endParaRPr/>
          </a:p>
          <a:p>
            <a:pPr indent="-342900" lvl="1" marL="812165" marR="0" rtl="0" algn="l">
              <a:spcBef>
                <a:spcPts val="10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-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공통기능 및 추가기능을 활용한 사용자 시나리오 및 UI 제공 (신규 추가 필요)</a:t>
            </a:r>
            <a:endParaRPr/>
          </a:p>
          <a:p>
            <a:pPr indent="-228600" lvl="1" marL="812165" marR="0" rtl="0" algn="l">
              <a:spcBef>
                <a:spcPts val="10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22018" y="2590800"/>
            <a:ext cx="2030258" cy="2788687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4"/>
          <p:cNvSpPr/>
          <p:nvPr/>
        </p:nvSpPr>
        <p:spPr>
          <a:xfrm>
            <a:off x="3942441" y="2666999"/>
            <a:ext cx="2151817" cy="2694749"/>
          </a:xfrm>
          <a:prstGeom prst="roundRect">
            <a:avLst>
              <a:gd fmla="val 16667" name="adj"/>
            </a:avLst>
          </a:prstGeom>
          <a:solidFill>
            <a:srgbClr val="CCC0D9"/>
          </a:solidFill>
          <a:ln cap="flat" cmpd="sng" w="25400">
            <a:solidFill>
              <a:srgbClr val="B2A0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1941282" y="2667051"/>
            <a:ext cx="1543959" cy="2694749"/>
          </a:xfrm>
          <a:prstGeom prst="roundRect">
            <a:avLst>
              <a:gd fmla="val 16667" name="adj"/>
            </a:avLst>
          </a:prstGeom>
          <a:solidFill>
            <a:srgbClr val="CCC0D9"/>
          </a:solidFill>
          <a:ln cap="flat" cmpd="sng" w="25400">
            <a:solidFill>
              <a:srgbClr val="B2A0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4"/>
          <p:cNvSpPr txBox="1"/>
          <p:nvPr/>
        </p:nvSpPr>
        <p:spPr>
          <a:xfrm>
            <a:off x="1208504" y="6486875"/>
            <a:ext cx="1705610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F49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Image Processing Lab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" name="Google Shape;74;p4"/>
          <p:cNvSpPr txBox="1"/>
          <p:nvPr>
            <p:ph type="title"/>
          </p:nvPr>
        </p:nvSpPr>
        <p:spPr>
          <a:xfrm>
            <a:off x="574040" y="609888"/>
            <a:ext cx="5293360" cy="321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시스템 구성도 </a:t>
            </a:r>
            <a:r>
              <a:rPr i="1" lang="en-US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(변경  된 사항 적용 필요)</a:t>
            </a:r>
            <a:endParaRPr i="1">
              <a:solidFill>
                <a:srgbClr val="FF0000"/>
              </a:solidFill>
            </a:endParaRPr>
          </a:p>
        </p:txBody>
      </p:sp>
      <p:sp>
        <p:nvSpPr>
          <p:cNvPr id="75" name="Google Shape;75;p4"/>
          <p:cNvSpPr txBox="1"/>
          <p:nvPr/>
        </p:nvSpPr>
        <p:spPr>
          <a:xfrm>
            <a:off x="574040" y="1124817"/>
            <a:ext cx="8874760" cy="321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287019" lvl="0" marL="2990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8ED5"/>
              </a:buClr>
              <a:buSzPts val="2000"/>
              <a:buFont typeface="Noto Sans Symbols"/>
              <a:buChar char="❖"/>
            </a:pPr>
            <a:r>
              <a:rPr lang="en-US" sz="2000">
                <a:solidFill>
                  <a:srgbClr val="558ED5"/>
                </a:solidFill>
                <a:latin typeface="Calibri"/>
                <a:ea typeface="Calibri"/>
                <a:cs typeface="Calibri"/>
                <a:sym typeface="Calibri"/>
              </a:rPr>
              <a:t>시스템 구성도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:\Daum_Cloud\DaumCloud\20131220_스마트 협업테이블\01. Images\DL380G7.png" id="76" name="Google Shape;76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24539" y="4785497"/>
            <a:ext cx="1280543" cy="62470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:\Daum_Cloud\DaumCloud\20131220_스마트 협업테이블\01. Images\DL380G7.png" id="77" name="Google Shape;7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67951" y="4720803"/>
            <a:ext cx="1280543" cy="624703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0583" y="4866073"/>
            <a:ext cx="522801" cy="46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253238" y="4082001"/>
            <a:ext cx="870999" cy="870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222569" y="2671424"/>
            <a:ext cx="971309" cy="6475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텍스트, 실외이(가) 표시된 사진&#10;&#10;자동 생성된 설명" id="81" name="Google Shape;81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235438" y="3756554"/>
            <a:ext cx="858744" cy="586846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4"/>
          <p:cNvSpPr/>
          <p:nvPr/>
        </p:nvSpPr>
        <p:spPr>
          <a:xfrm>
            <a:off x="2061309" y="3192267"/>
            <a:ext cx="1257632" cy="529854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Change Detection</a:t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4031778" y="3395570"/>
            <a:ext cx="1368449" cy="785575"/>
          </a:xfrm>
          <a:prstGeom prst="roundRect">
            <a:avLst>
              <a:gd fmla="val 16667" name="adj"/>
            </a:avLst>
          </a:prstGeom>
          <a:solidFill>
            <a:schemeClr val="accent3"/>
          </a:solidFill>
          <a:ln cap="flat" cmpd="sng" w="25400">
            <a:solidFill>
              <a:srgbClr val="718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Intruder Detection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(Django blog)</a:t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:\Daum_Cloud\DaumCloud\20131220_스마트 협업테이블\01. Images\Database_3.png" id="84" name="Google Shape;84;p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497006" y="4181145"/>
            <a:ext cx="594672" cy="672709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087805" y="2671424"/>
            <a:ext cx="971309" cy="5433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6" name="Google Shape;86;p4"/>
          <p:cNvCxnSpPr>
            <a:stCxn id="78" idx="3"/>
            <a:endCxn id="76" idx="1"/>
          </p:cNvCxnSpPr>
          <p:nvPr/>
        </p:nvCxnSpPr>
        <p:spPr>
          <a:xfrm>
            <a:off x="1153384" y="5097848"/>
            <a:ext cx="871200" cy="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7" name="Google Shape;87;p4"/>
          <p:cNvSpPr txBox="1"/>
          <p:nvPr/>
        </p:nvSpPr>
        <p:spPr>
          <a:xfrm>
            <a:off x="1184599" y="4828170"/>
            <a:ext cx="49180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RTSP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8" name="Google Shape;88;p4"/>
          <p:cNvCxnSpPr>
            <a:stCxn id="82" idx="0"/>
            <a:endCxn id="80" idx="1"/>
          </p:cNvCxnSpPr>
          <p:nvPr/>
        </p:nvCxnSpPr>
        <p:spPr>
          <a:xfrm rot="-5400000">
            <a:off x="3357775" y="2327517"/>
            <a:ext cx="197100" cy="1532400"/>
          </a:xfrm>
          <a:prstGeom prst="bentConnector2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9" name="Google Shape;89;p4"/>
          <p:cNvCxnSpPr>
            <a:stCxn id="79" idx="3"/>
            <a:endCxn id="84" idx="1"/>
          </p:cNvCxnSpPr>
          <p:nvPr/>
        </p:nvCxnSpPr>
        <p:spPr>
          <a:xfrm>
            <a:off x="5124237" y="4517501"/>
            <a:ext cx="372900" cy="600"/>
          </a:xfrm>
          <a:prstGeom prst="bentConnector3">
            <a:avLst>
              <a:gd fmla="val 49982" name="adj1"/>
            </a:avLst>
          </a:prstGeom>
          <a:noFill/>
          <a:ln cap="flat" cmpd="sng" w="9525">
            <a:solidFill>
              <a:srgbClr val="4A7DBA"/>
            </a:solidFill>
            <a:prstDash val="solid"/>
            <a:round/>
            <a:headEnd len="med" w="med" type="triangle"/>
            <a:tailEnd len="med" w="med" type="triangle"/>
          </a:ln>
        </p:spPr>
      </p:cxnSp>
      <p:pic>
        <p:nvPicPr>
          <p:cNvPr id="90" name="Google Shape;90;p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670562" y="3680774"/>
            <a:ext cx="431435" cy="414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7609861" y="4119079"/>
            <a:ext cx="552835" cy="414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7689322" y="3223161"/>
            <a:ext cx="395673" cy="41462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4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7664378" y="2785772"/>
            <a:ext cx="421175" cy="414628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4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8606804" y="3223161"/>
            <a:ext cx="660400" cy="660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5" name="Google Shape;95;p4"/>
          <p:cNvCxnSpPr>
            <a:stCxn id="80" idx="3"/>
            <a:endCxn id="93" idx="1"/>
          </p:cNvCxnSpPr>
          <p:nvPr/>
        </p:nvCxnSpPr>
        <p:spPr>
          <a:xfrm flipH="1" rot="10800000">
            <a:off x="5193878" y="2993094"/>
            <a:ext cx="2470500" cy="21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4A7DBA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96" name="Google Shape;96;p4"/>
          <p:cNvSpPr txBox="1"/>
          <p:nvPr/>
        </p:nvSpPr>
        <p:spPr>
          <a:xfrm>
            <a:off x="2729982" y="2702939"/>
            <a:ext cx="123860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HTTP/Restful API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 txBox="1"/>
          <p:nvPr/>
        </p:nvSpPr>
        <p:spPr>
          <a:xfrm>
            <a:off x="5429805" y="2702938"/>
            <a:ext cx="51379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8" name="Google Shape;98;p4"/>
          <p:cNvCxnSpPr>
            <a:stCxn id="83" idx="0"/>
          </p:cNvCxnSpPr>
          <p:nvPr/>
        </p:nvCxnSpPr>
        <p:spPr>
          <a:xfrm rot="10800000">
            <a:off x="4716003" y="3085970"/>
            <a:ext cx="0" cy="3096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99" name="Google Shape;99;p4"/>
          <p:cNvSpPr txBox="1"/>
          <p:nvPr/>
        </p:nvSpPr>
        <p:spPr>
          <a:xfrm>
            <a:off x="4724400" y="3124200"/>
            <a:ext cx="51379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4253616" y="4054333"/>
            <a:ext cx="940262" cy="212867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Image blog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4031778" y="3402836"/>
            <a:ext cx="692622" cy="212867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REST API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 txBox="1"/>
          <p:nvPr/>
        </p:nvSpPr>
        <p:spPr>
          <a:xfrm>
            <a:off x="3856074" y="3152001"/>
            <a:ext cx="87043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PORT:8000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 txBox="1"/>
          <p:nvPr/>
        </p:nvSpPr>
        <p:spPr>
          <a:xfrm>
            <a:off x="4572000" y="2694801"/>
            <a:ext cx="87043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PORT:8080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 txBox="1"/>
          <p:nvPr/>
        </p:nvSpPr>
        <p:spPr>
          <a:xfrm>
            <a:off x="1903368" y="5377056"/>
            <a:ext cx="157850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&lt;EDGE SYSTEM&gt;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 txBox="1"/>
          <p:nvPr/>
        </p:nvSpPr>
        <p:spPr>
          <a:xfrm>
            <a:off x="6800813" y="5334000"/>
            <a:ext cx="214830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&lt;CLIENT&gt;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6" name="Google Shape;106;p4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7659247" y="4589324"/>
            <a:ext cx="431435" cy="439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4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359568" y="4060441"/>
            <a:ext cx="971397" cy="67220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8" name="Google Shape;108;p4"/>
          <p:cNvCxnSpPr>
            <a:endCxn id="76" idx="1"/>
          </p:cNvCxnSpPr>
          <p:nvPr/>
        </p:nvCxnSpPr>
        <p:spPr>
          <a:xfrm>
            <a:off x="1111639" y="4398549"/>
            <a:ext cx="912900" cy="6993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9" name="Google Shape;109;p4"/>
          <p:cNvSpPr txBox="1"/>
          <p:nvPr/>
        </p:nvSpPr>
        <p:spPr>
          <a:xfrm>
            <a:off x="1158912" y="4248926"/>
            <a:ext cx="47320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USB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0" name="Google Shape;110;p4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1924232" y="4641184"/>
            <a:ext cx="797854" cy="2356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4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2140935" y="4244808"/>
            <a:ext cx="1047750" cy="3271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4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2819400" y="4790122"/>
            <a:ext cx="609600" cy="1628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4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2766530" y="4464046"/>
            <a:ext cx="715339" cy="35767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4"/>
          <p:cNvSpPr txBox="1"/>
          <p:nvPr/>
        </p:nvSpPr>
        <p:spPr>
          <a:xfrm>
            <a:off x="3960572" y="5334000"/>
            <a:ext cx="214830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&lt;SERVICE SYSTEM&gt;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"/>
          <p:cNvSpPr txBox="1"/>
          <p:nvPr/>
        </p:nvSpPr>
        <p:spPr>
          <a:xfrm>
            <a:off x="1208504" y="6486875"/>
            <a:ext cx="1705610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F49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Image Processing Lab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0" name="Google Shape;120;p5"/>
          <p:cNvSpPr txBox="1"/>
          <p:nvPr>
            <p:ph type="title"/>
          </p:nvPr>
        </p:nvSpPr>
        <p:spPr>
          <a:xfrm>
            <a:off x="574040" y="609888"/>
            <a:ext cx="1090930" cy="330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목적</a:t>
            </a:r>
            <a:endParaRPr/>
          </a:p>
        </p:txBody>
      </p:sp>
      <p:sp>
        <p:nvSpPr>
          <p:cNvPr id="121" name="Google Shape;121;p5"/>
          <p:cNvSpPr txBox="1"/>
          <p:nvPr/>
        </p:nvSpPr>
        <p:spPr>
          <a:xfrm>
            <a:off x="574040" y="1124817"/>
            <a:ext cx="8080500" cy="33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287019" lvl="0" marL="2990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8ED5"/>
              </a:buClr>
              <a:buSzPts val="2000"/>
              <a:buFont typeface="Noto Sans Symbols"/>
              <a:buChar char="❖"/>
            </a:pPr>
            <a:r>
              <a:rPr lang="en-US" sz="2000">
                <a:solidFill>
                  <a:srgbClr val="558ED5"/>
                </a:solidFill>
                <a:latin typeface="Calibri"/>
                <a:ea typeface="Calibri"/>
                <a:cs typeface="Calibri"/>
                <a:sym typeface="Calibri"/>
              </a:rPr>
              <a:t>Enable real-time monitoring using YOLOv5 + </a:t>
            </a:r>
            <a:r>
              <a:rPr lang="en-US" sz="2000">
                <a:solidFill>
                  <a:srgbClr val="558ED5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-US" sz="2000">
                <a:solidFill>
                  <a:srgbClr val="558ED5"/>
                </a:solidFill>
                <a:latin typeface="Calibri"/>
                <a:ea typeface="Calibri"/>
                <a:cs typeface="Calibri"/>
                <a:sym typeface="Calibri"/>
              </a:rPr>
              <a:t>loud </a:t>
            </a:r>
            <a:r>
              <a:rPr lang="en-US" sz="2000">
                <a:solidFill>
                  <a:srgbClr val="558ED5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lang="en-US" sz="2000">
                <a:solidFill>
                  <a:srgbClr val="558ED5"/>
                </a:solidFill>
                <a:latin typeface="Calibri"/>
                <a:ea typeface="Calibri"/>
                <a:cs typeface="Calibri"/>
                <a:sym typeface="Calibri"/>
              </a:rPr>
              <a:t>torage &amp; </a:t>
            </a:r>
            <a:r>
              <a:rPr lang="en-US" sz="2000">
                <a:solidFill>
                  <a:srgbClr val="558ED5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2000">
                <a:solidFill>
                  <a:srgbClr val="558ED5"/>
                </a:solidFill>
                <a:latin typeface="Calibri"/>
                <a:ea typeface="Calibri"/>
                <a:cs typeface="Calibri"/>
                <a:sym typeface="Calibri"/>
              </a:rPr>
              <a:t>rocessing (Django Service System)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655" lvl="1" marL="690880" marR="0" rtl="0" algn="l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-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Performs fast and accurate object detection using a pretrained YOLOv5 model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655" lvl="1" marL="690880" marR="0" rtl="0" algn="l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-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Continuously analyzes incoming frames to identify objects among 80 MS-COCO classes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655" lvl="1" marL="690880" marR="0" rtl="0" algn="l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-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Automatically uploads detection results and images from the edge device to the Django cloud server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655" lvl="1" marL="690880" marR="0" rtl="0" algn="l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-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Maintains historical logs for monitoring long-term trends or reviewing detected objects (api_root/Post)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"/>
          <p:cNvSpPr txBox="1"/>
          <p:nvPr/>
        </p:nvSpPr>
        <p:spPr>
          <a:xfrm>
            <a:off x="1208504" y="6486875"/>
            <a:ext cx="1705610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F49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Image Processing Lab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7" name="Google Shape;127;p6"/>
          <p:cNvSpPr txBox="1"/>
          <p:nvPr>
            <p:ph type="title"/>
          </p:nvPr>
        </p:nvSpPr>
        <p:spPr>
          <a:xfrm>
            <a:off x="574040" y="609888"/>
            <a:ext cx="1090930" cy="330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필요성</a:t>
            </a:r>
            <a:endParaRPr/>
          </a:p>
        </p:txBody>
      </p:sp>
      <p:sp>
        <p:nvSpPr>
          <p:cNvPr id="128" name="Google Shape;128;p6"/>
          <p:cNvSpPr txBox="1"/>
          <p:nvPr/>
        </p:nvSpPr>
        <p:spPr>
          <a:xfrm>
            <a:off x="574040" y="1270732"/>
            <a:ext cx="8080500" cy="44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287019" lvl="0" marL="2990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8ED5"/>
              </a:buClr>
              <a:buSzPts val="2000"/>
              <a:buFont typeface="Noto Sans Symbols"/>
              <a:buChar char="❖"/>
            </a:pPr>
            <a:r>
              <a:rPr lang="en-US" sz="2000">
                <a:solidFill>
                  <a:srgbClr val="558ED5"/>
                </a:solidFill>
                <a:latin typeface="Calibri"/>
                <a:ea typeface="Calibri"/>
                <a:cs typeface="Calibri"/>
                <a:sym typeface="Calibri"/>
              </a:rPr>
              <a:t>Real-time Object Detection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655" lvl="1" marL="690880" marR="0" rtl="0" algn="l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-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Need for real-time detection in everyday environments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558ED5"/>
              </a:buClr>
              <a:buSzPts val="2000"/>
              <a:buFont typeface="Noto Sans Symbols"/>
              <a:buChar char="❖"/>
            </a:pPr>
            <a:r>
              <a:rPr lang="en-US" sz="2000">
                <a:solidFill>
                  <a:srgbClr val="558ED5"/>
                </a:solidFill>
                <a:latin typeface="Calibri"/>
                <a:ea typeface="Calibri"/>
                <a:cs typeface="Calibri"/>
                <a:sym typeface="Calibri"/>
              </a:rPr>
              <a:t>Cloud Storage and Accessibility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spcBef>
                <a:spcPts val="14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-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Demand for remote access to detection results through cloud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spcBef>
                <a:spcPts val="14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-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Need for mobile accessibility and image history browsing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rtl="0" algn="l">
              <a:spcBef>
                <a:spcPts val="144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558ED5"/>
              </a:buClr>
              <a:buSzPts val="2000"/>
              <a:buFont typeface="Noto Sans Symbols"/>
              <a:buChar char="❖"/>
            </a:pPr>
            <a:r>
              <a:rPr lang="en-US" sz="2000">
                <a:solidFill>
                  <a:srgbClr val="558ED5"/>
                </a:solidFill>
                <a:latin typeface="Calibri"/>
                <a:ea typeface="Calibri"/>
                <a:cs typeface="Calibri"/>
                <a:sym typeface="Calibri"/>
              </a:rPr>
              <a:t>Edge → Cloud → User interaction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spcBef>
                <a:spcPts val="14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-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need to synchronize edge → cloud → user to ensure the client can access the image in real-time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"/>
          <p:cNvSpPr txBox="1"/>
          <p:nvPr/>
        </p:nvSpPr>
        <p:spPr>
          <a:xfrm>
            <a:off x="1208504" y="6486875"/>
            <a:ext cx="1705610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F49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Image Processing Lab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" name="Google Shape;134;p7"/>
          <p:cNvSpPr txBox="1"/>
          <p:nvPr>
            <p:ph type="title"/>
          </p:nvPr>
        </p:nvSpPr>
        <p:spPr>
          <a:xfrm>
            <a:off x="574040" y="609888"/>
            <a:ext cx="5674360" cy="321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기능</a:t>
            </a:r>
            <a:r>
              <a:rPr i="1" lang="en-US" sz="2000">
                <a:solidFill>
                  <a:srgbClr val="FF0000"/>
                </a:solidFill>
              </a:rPr>
              <a:t>(신규 또는 추가 기능 중심, 페이지 추가 가능)</a:t>
            </a:r>
            <a:endParaRPr i="1">
              <a:solidFill>
                <a:srgbClr val="FF0000"/>
              </a:solidFill>
            </a:endParaRPr>
          </a:p>
        </p:txBody>
      </p:sp>
      <p:sp>
        <p:nvSpPr>
          <p:cNvPr id="135" name="Google Shape;135;p7"/>
          <p:cNvSpPr txBox="1"/>
          <p:nvPr/>
        </p:nvSpPr>
        <p:spPr>
          <a:xfrm>
            <a:off x="574040" y="1222094"/>
            <a:ext cx="8080500" cy="50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287019" lvl="0" marL="2990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8ED5"/>
              </a:buClr>
              <a:buSzPts val="2000"/>
              <a:buFont typeface="Noto Sans Symbols"/>
              <a:buChar char="❖"/>
            </a:pPr>
            <a:r>
              <a:rPr lang="en-US" sz="2000">
                <a:solidFill>
                  <a:srgbClr val="558ED5"/>
                </a:solidFill>
                <a:latin typeface="Calibri"/>
                <a:ea typeface="Calibri"/>
                <a:cs typeface="Calibri"/>
                <a:sym typeface="Calibri"/>
              </a:rPr>
              <a:t>Edge System </a:t>
            </a:r>
            <a:endParaRPr i="1" sz="2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655" lvl="1" marL="690880" marR="0" rtl="0" algn="l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-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YOLOv5 object detection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655" lvl="1" marL="690880" marR="0" rtl="0" algn="l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-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Change detection (frame differencing or comparing detection results)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655" lvl="1" marL="690880" marR="0" rtl="0" algn="l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-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Auto-upload to Django server via API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558ED5"/>
              </a:buClr>
              <a:buSzPts val="2000"/>
              <a:buFont typeface="Noto Sans Symbols"/>
              <a:buChar char="❖"/>
            </a:pPr>
            <a:r>
              <a:rPr lang="en-US" sz="2000">
                <a:solidFill>
                  <a:srgbClr val="558ED5"/>
                </a:solidFill>
                <a:latin typeface="Calibri"/>
                <a:ea typeface="Calibri"/>
                <a:cs typeface="Calibri"/>
                <a:sym typeface="Calibri"/>
              </a:rPr>
              <a:t>Service System (Django)</a:t>
            </a:r>
            <a:endParaRPr i="1" sz="2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spcBef>
                <a:spcPts val="14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-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Image blog (image + metadata storage)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spcBef>
                <a:spcPts val="14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-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REST API: upload, list, retrieve images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rtl="0" algn="l">
              <a:spcBef>
                <a:spcPts val="144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558ED5"/>
              </a:buClr>
              <a:buSzPts val="2000"/>
              <a:buFont typeface="Noto Sans Symbols"/>
              <a:buChar char="❖"/>
            </a:pPr>
            <a:r>
              <a:rPr lang="en-US" sz="2000">
                <a:solidFill>
                  <a:srgbClr val="558ED5"/>
                </a:solidFill>
                <a:latin typeface="Calibri"/>
                <a:ea typeface="Calibri"/>
                <a:cs typeface="Calibri"/>
                <a:sym typeface="Calibri"/>
              </a:rPr>
              <a:t>Client System (Android Studio)</a:t>
            </a:r>
            <a:endParaRPr i="1" sz="2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spcBef>
                <a:spcPts val="14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-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Image list view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spcBef>
                <a:spcPts val="14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-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Image detail screen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8"/>
          <p:cNvSpPr txBox="1"/>
          <p:nvPr/>
        </p:nvSpPr>
        <p:spPr>
          <a:xfrm>
            <a:off x="1208504" y="6486875"/>
            <a:ext cx="1705610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F49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Image Processing Lab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1" name="Google Shape;141;p8"/>
          <p:cNvSpPr txBox="1"/>
          <p:nvPr>
            <p:ph type="title"/>
          </p:nvPr>
        </p:nvSpPr>
        <p:spPr>
          <a:xfrm>
            <a:off x="574040" y="609888"/>
            <a:ext cx="3845560" cy="3212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사용자 시나리오(Ui 구성)</a:t>
            </a:r>
            <a:endParaRPr/>
          </a:p>
        </p:txBody>
      </p:sp>
      <p:sp>
        <p:nvSpPr>
          <p:cNvPr id="142" name="Google Shape;142;p8"/>
          <p:cNvSpPr txBox="1"/>
          <p:nvPr/>
        </p:nvSpPr>
        <p:spPr>
          <a:xfrm>
            <a:off x="574040" y="1421242"/>
            <a:ext cx="8080500" cy="40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287019" lvl="0" marL="2990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8ED5"/>
              </a:buClr>
              <a:buSzPts val="2000"/>
              <a:buFont typeface="Noto Sans Symbols"/>
              <a:buChar char="❖"/>
            </a:pPr>
            <a:r>
              <a:rPr lang="en-US" sz="2000">
                <a:solidFill>
                  <a:srgbClr val="558ED5"/>
                </a:solidFill>
                <a:latin typeface="Calibri"/>
                <a:ea typeface="Calibri"/>
                <a:cs typeface="Calibri"/>
                <a:sym typeface="Calibri"/>
              </a:rPr>
              <a:t>Scenario 1 -  User uploads an image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-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 selects an image on Android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-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 uploads through REST API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-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Django stores in image blog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558ED5"/>
              </a:buClr>
              <a:buSzPts val="2000"/>
              <a:buFont typeface="Noto Sans Symbols"/>
              <a:buChar char="❖"/>
            </a:pPr>
            <a:r>
              <a:rPr lang="en-US" sz="2000">
                <a:solidFill>
                  <a:srgbClr val="558ED5"/>
                </a:solidFill>
                <a:latin typeface="Calibri"/>
                <a:ea typeface="Calibri"/>
                <a:cs typeface="Calibri"/>
                <a:sym typeface="Calibri"/>
              </a:rPr>
              <a:t>Scenario 2 - User checks detection results</a:t>
            </a:r>
            <a:endParaRPr sz="2000">
              <a:solidFill>
                <a:srgbClr val="558ED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-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 retrieves image list via API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-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 browses detections and changes logs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558ED5"/>
              </a:buClr>
              <a:buSzPts val="2000"/>
              <a:buFont typeface="Noto Sans Symbols"/>
              <a:buChar char="❖"/>
            </a:pPr>
            <a:r>
              <a:rPr lang="en-US" sz="2000">
                <a:solidFill>
                  <a:srgbClr val="558ED5"/>
                </a:solidFill>
                <a:latin typeface="Calibri"/>
                <a:ea typeface="Calibri"/>
                <a:cs typeface="Calibri"/>
                <a:sym typeface="Calibri"/>
              </a:rPr>
              <a:t>Scenario 3 - Edge detects changes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-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Edge system detects object change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-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sends image + info (published_date, etc) to server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-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Server updates blog → App shows new entries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9"/>
          <p:cNvSpPr txBox="1"/>
          <p:nvPr/>
        </p:nvSpPr>
        <p:spPr>
          <a:xfrm>
            <a:off x="1208504" y="6486875"/>
            <a:ext cx="1705610" cy="239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F49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Image Processing Lab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" name="Google Shape;148;p9"/>
          <p:cNvSpPr txBox="1"/>
          <p:nvPr>
            <p:ph type="title"/>
          </p:nvPr>
        </p:nvSpPr>
        <p:spPr>
          <a:xfrm>
            <a:off x="574040" y="609888"/>
            <a:ext cx="1090930" cy="330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기대효과</a:t>
            </a:r>
            <a:endParaRPr/>
          </a:p>
        </p:txBody>
      </p:sp>
      <p:sp>
        <p:nvSpPr>
          <p:cNvPr id="149" name="Google Shape;149;p9"/>
          <p:cNvSpPr txBox="1"/>
          <p:nvPr/>
        </p:nvSpPr>
        <p:spPr>
          <a:xfrm>
            <a:off x="574040" y="1205881"/>
            <a:ext cx="8080500" cy="49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-287019" lvl="0" marL="2990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8ED5"/>
              </a:buClr>
              <a:buSzPts val="2000"/>
              <a:buFont typeface="Noto Sans Symbols"/>
              <a:buChar char="❖"/>
            </a:pPr>
            <a:r>
              <a:rPr lang="en-US" sz="2000">
                <a:solidFill>
                  <a:srgbClr val="558ED5"/>
                </a:solidFill>
                <a:latin typeface="Calibri"/>
                <a:ea typeface="Calibri"/>
                <a:cs typeface="Calibri"/>
                <a:sym typeface="Calibri"/>
              </a:rPr>
              <a:t>Expected Outcomes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-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Fully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working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pipeline demonstrating: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■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real-time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detection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■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cloud synchronization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■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secure user access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■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mobile-based viewing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-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Good UX for users browsing detection logs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-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Scalable deployment using PythonAnywhere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-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Provides a foundation for (future):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■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intruder detection system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■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smart CCTV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■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 monitoring dashboard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2020-06-08T19:34:44Z</dcterms:created>
  <dc:creator>안기옥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2018-05-10T00:00:00Z</vt:filetime>
  </property>
  <property fmtid="{D5CDD505-2E9C-101B-9397-08002B2CF9AE}" pid="3" name="Creator">
    <vt:lpwstr>PowerPoint용 Acrobat PDFMaker 15</vt:lpwstr>
  </property>
  <property fmtid="{D5CDD505-2E9C-101B-9397-08002B2CF9AE}" pid="4" name="LastSaved">
    <vt:filetime>2020-06-08T00:00:00Z</vt:filetime>
  </property>
</Properties>
</file>